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3"/>
  </p:normalViewPr>
  <p:slideViewPr>
    <p:cSldViewPr snapToGrid="0" snapToObjects="1">
      <p:cViewPr varScale="1">
        <p:scale>
          <a:sx n="117" d="100"/>
          <a:sy n="117" d="100"/>
        </p:scale>
        <p:origin x="15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21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546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5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171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73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068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344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603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281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250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828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40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7" r:id="rId1"/>
    <p:sldLayoutId id="2147484228" r:id="rId2"/>
    <p:sldLayoutId id="2147484229" r:id="rId3"/>
    <p:sldLayoutId id="2147484230" r:id="rId4"/>
    <p:sldLayoutId id="2147484231" r:id="rId5"/>
    <p:sldLayoutId id="2147484232" r:id="rId6"/>
    <p:sldLayoutId id="2147484233" r:id="rId7"/>
    <p:sldLayoutId id="2147484234" r:id="rId8"/>
    <p:sldLayoutId id="2147484235" r:id="rId9"/>
    <p:sldLayoutId id="2147484236" r:id="rId10"/>
    <p:sldLayoutId id="21474842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399032"/>
            <a:ext cx="7593330" cy="3035808"/>
          </a:xfrm>
        </p:spPr>
        <p:txBody>
          <a:bodyPr>
            <a:noAutofit/>
          </a:bodyPr>
          <a:lstStyle/>
          <a:p>
            <a:r>
              <a:rPr lang="en-IN" sz="5400" dirty="0"/>
              <a:t>Financial Sentiment Analysis with </a:t>
            </a:r>
            <a:r>
              <a:rPr lang="en-IN" sz="5400" dirty="0" err="1"/>
              <a:t>DistilBERT</a:t>
            </a:r>
            <a:br>
              <a:rPr lang="en-IN" sz="5400" dirty="0"/>
            </a:br>
            <a:r>
              <a:rPr lang="en-IN" sz="5400" dirty="0"/>
              <a:t> </a:t>
            </a:r>
            <a:br>
              <a:rPr lang="en-IN" sz="5400" dirty="0"/>
            </a:br>
            <a:r>
              <a:rPr lang="en-IN" sz="5400" dirty="0"/>
              <a:t>Hugging Face Transformers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98028" y="5914863"/>
            <a:ext cx="2383972" cy="770708"/>
          </a:xfrm>
        </p:spPr>
        <p:txBody>
          <a:bodyPr>
            <a:normAutofit/>
          </a:bodyPr>
          <a:lstStyle/>
          <a:p>
            <a:r>
              <a:rPr lang="en-US" sz="1400" dirty="0"/>
              <a:t>Rajesh Kumar Rama Reddy</a:t>
            </a:r>
            <a:br>
              <a:rPr lang="en-US" sz="1400" dirty="0"/>
            </a:br>
            <a:r>
              <a:rPr lang="en-US" sz="1400" dirty="0"/>
              <a:t>NUID: 002303770</a:t>
            </a:r>
            <a:endParaRPr sz="14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5D75E64-B13D-5D6E-0DF4-F2BB33D8F37D}"/>
              </a:ext>
            </a:extLst>
          </p:cNvPr>
          <p:cNvSpPr txBox="1">
            <a:spLocks/>
          </p:cNvSpPr>
          <p:nvPr/>
        </p:nvSpPr>
        <p:spPr>
          <a:xfrm>
            <a:off x="788670" y="4884203"/>
            <a:ext cx="5918454" cy="7707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Fine-Tuning a Large Language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Task: classify financial news sentences into </a:t>
            </a:r>
            <a:br>
              <a:rPr lang="en-US" dirty="0"/>
            </a:br>
            <a:r>
              <a:rPr dirty="0"/>
              <a:t>Negative / Neutral / Positive</a:t>
            </a:r>
            <a:br>
              <a:rPr lang="en-US" dirty="0"/>
            </a:br>
            <a:endParaRPr dirty="0"/>
          </a:p>
          <a:p>
            <a:r>
              <a:rPr dirty="0"/>
              <a:t>Approach: fine-tune a pre-trained transformer for </a:t>
            </a:r>
            <a:br>
              <a:rPr lang="en-US" dirty="0"/>
            </a:br>
            <a:r>
              <a:rPr dirty="0"/>
              <a:t>3-class sentiment</a:t>
            </a:r>
            <a:br>
              <a:rPr lang="en-US" dirty="0"/>
            </a:br>
            <a:endParaRPr dirty="0"/>
          </a:p>
          <a:p>
            <a:r>
              <a:rPr dirty="0"/>
              <a:t>Deliverables: training pipeline, tuning, evaluation, error analysis, inference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Financial </a:t>
            </a:r>
            <a:r>
              <a:rPr dirty="0" err="1"/>
              <a:t>PhraseBank</a:t>
            </a:r>
            <a:r>
              <a:rPr dirty="0"/>
              <a:t> (Kaggle: all-</a:t>
            </a:r>
            <a:r>
              <a:rPr dirty="0" err="1"/>
              <a:t>data.csv</a:t>
            </a:r>
            <a:r>
              <a:rPr dirty="0"/>
              <a:t>)</a:t>
            </a:r>
            <a:br>
              <a:rPr lang="en-US" dirty="0"/>
            </a:br>
            <a:endParaRPr dirty="0"/>
          </a:p>
          <a:p>
            <a:r>
              <a:rPr dirty="0"/>
              <a:t>Fields: sentiment label + sentence text</a:t>
            </a:r>
            <a:br>
              <a:rPr lang="en-US" dirty="0"/>
            </a:br>
            <a:endParaRPr dirty="0"/>
          </a:p>
          <a:p>
            <a:r>
              <a:rPr dirty="0"/>
              <a:t>Label mapping: </a:t>
            </a:r>
            <a:br>
              <a:rPr lang="en-US" dirty="0"/>
            </a:br>
            <a:r>
              <a:rPr dirty="0"/>
              <a:t>negative→0</a:t>
            </a:r>
            <a:br>
              <a:rPr lang="en-US" dirty="0"/>
            </a:br>
            <a:r>
              <a:rPr dirty="0"/>
              <a:t>neutral→1</a:t>
            </a:r>
            <a:br>
              <a:rPr lang="en-US" dirty="0"/>
            </a:br>
            <a:r>
              <a:rPr dirty="0"/>
              <a:t>positive→2</a:t>
            </a:r>
            <a:br>
              <a:rPr lang="en-US" dirty="0"/>
            </a:br>
            <a:endParaRPr dirty="0"/>
          </a:p>
          <a:p>
            <a:r>
              <a:rPr dirty="0"/>
              <a:t>Train/Val/Test split (stratified): 70/15/15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Pretrained model: </a:t>
            </a:r>
            <a:r>
              <a:rPr dirty="0" err="1"/>
              <a:t>distilbert</a:t>
            </a:r>
            <a:r>
              <a:rPr dirty="0"/>
              <a:t>-base-uncased (compact BERT)</a:t>
            </a:r>
            <a:br>
              <a:rPr lang="en-US" dirty="0"/>
            </a:br>
            <a:endParaRPr dirty="0"/>
          </a:p>
          <a:p>
            <a:r>
              <a:rPr dirty="0"/>
              <a:t>Hugging Face Transformers: </a:t>
            </a:r>
            <a:r>
              <a:rPr dirty="0" err="1"/>
              <a:t>AutoTokenizer</a:t>
            </a:r>
            <a:r>
              <a:rPr dirty="0"/>
              <a:t>, </a:t>
            </a:r>
            <a:r>
              <a:rPr dirty="0" err="1"/>
              <a:t>AutoModelForSequenceClassification</a:t>
            </a:r>
            <a:r>
              <a:rPr dirty="0"/>
              <a:t>, Trainer</a:t>
            </a:r>
            <a:br>
              <a:rPr lang="en-US" dirty="0"/>
            </a:br>
            <a:endParaRPr dirty="0"/>
          </a:p>
          <a:p>
            <a:r>
              <a:rPr dirty="0"/>
              <a:t>Hugging Face Datasets: </a:t>
            </a:r>
            <a:r>
              <a:rPr dirty="0" err="1"/>
              <a:t>DatasetDict</a:t>
            </a:r>
            <a:r>
              <a:rPr dirty="0"/>
              <a:t>, map(tokenize)</a:t>
            </a:r>
            <a:br>
              <a:rPr lang="en-US" dirty="0"/>
            </a:b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Dynamic padding with </a:t>
            </a:r>
            <a:r>
              <a:rPr dirty="0" err="1"/>
              <a:t>DataCollatorWithPadding</a:t>
            </a:r>
            <a:br>
              <a:rPr lang="en-US" dirty="0"/>
            </a:br>
            <a:endParaRPr dirty="0"/>
          </a:p>
          <a:p>
            <a:r>
              <a:rPr dirty="0"/>
              <a:t>Training: 3 epochs, </a:t>
            </a:r>
            <a:r>
              <a:rPr dirty="0" err="1"/>
              <a:t>AdamW</a:t>
            </a:r>
            <a:r>
              <a:rPr dirty="0"/>
              <a:t>, weight decay</a:t>
            </a:r>
            <a:br>
              <a:rPr lang="en-US" dirty="0"/>
            </a:br>
            <a:endParaRPr dirty="0"/>
          </a:p>
          <a:p>
            <a:r>
              <a:rPr dirty="0"/>
              <a:t>Evaluate each epoch; keep </a:t>
            </a:r>
            <a:r>
              <a:rPr lang="en-IN" dirty="0"/>
              <a:t>the best</a:t>
            </a:r>
            <a:r>
              <a:rPr dirty="0"/>
              <a:t> model by macro-F1</a:t>
            </a:r>
            <a:br>
              <a:rPr lang="en-US" dirty="0"/>
            </a:br>
            <a:endParaRPr dirty="0"/>
          </a:p>
          <a:p>
            <a:r>
              <a:rPr dirty="0"/>
              <a:t>Saved checkpoints per epoch for reproducibility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Hyperparameter Tuning (3 configs)</a:t>
            </a:r>
          </a:p>
        </p:txBody>
      </p:sp>
      <p:pic>
        <p:nvPicPr>
          <p:cNvPr id="3" name="Picture 2" descr="tuning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93976"/>
            <a:ext cx="7563394" cy="19485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489047"/>
            <a:ext cx="5266313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Selection based on highest validation macro-F1.</a:t>
            </a:r>
            <a:endParaRPr lang="en-US" dirty="0"/>
          </a:p>
          <a:p>
            <a:endParaRPr lang="en-IN" dirty="0"/>
          </a:p>
          <a:p>
            <a:r>
              <a:rPr dirty="0"/>
              <a:t>Best: Run 1 (</a:t>
            </a:r>
            <a:r>
              <a:rPr dirty="0" err="1"/>
              <a:t>lr</a:t>
            </a:r>
            <a:r>
              <a:rPr dirty="0"/>
              <a:t>=2e-5, wd=0.01, bs=8, 3 epochs).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(Test Set)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Accuracy: 0.850</a:t>
            </a:r>
            <a:endParaRPr lang="en-US" dirty="0"/>
          </a:p>
          <a:p>
            <a:endParaRPr dirty="0"/>
          </a:p>
          <a:p>
            <a:r>
              <a:rPr dirty="0"/>
              <a:t>Macro F1: 0.835</a:t>
            </a:r>
            <a:endParaRPr lang="en-US" dirty="0"/>
          </a:p>
          <a:p>
            <a:endParaRPr dirty="0"/>
          </a:p>
          <a:p>
            <a:r>
              <a:rPr dirty="0"/>
              <a:t>Main confusion: Neutral ↔ Positive due to subtle wording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92352"/>
            <a:ext cx="7772400" cy="1609344"/>
          </a:xfrm>
        </p:spPr>
        <p:txBody>
          <a:bodyPr/>
          <a:lstStyle/>
          <a:p>
            <a:r>
              <a:rPr dirty="0"/>
              <a:t>Confusion Matrix (Test)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312" y="1502961"/>
            <a:ext cx="5225273" cy="42204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97232" y="5723374"/>
            <a:ext cx="531735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Most errors occur between Neutral and Positive; </a:t>
            </a:r>
            <a:endParaRPr lang="en-US" dirty="0"/>
          </a:p>
          <a:p>
            <a:r>
              <a:rPr dirty="0"/>
              <a:t>Negative class recall remains strong.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Analysis &amp;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Errors: ambiguous tone, expectation statements, limited context</a:t>
            </a:r>
            <a:endParaRPr lang="en-US" dirty="0"/>
          </a:p>
          <a:p>
            <a:endParaRPr dirty="0"/>
          </a:p>
          <a:p>
            <a:r>
              <a:rPr dirty="0"/>
              <a:t>Improvements: finance-domain pretraining (</a:t>
            </a:r>
            <a:r>
              <a:rPr dirty="0" err="1"/>
              <a:t>FinBERT</a:t>
            </a:r>
            <a:r>
              <a:rPr dirty="0"/>
              <a:t>), more labeled data, threshold calibration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21408"/>
            <a:ext cx="7859486" cy="4050792"/>
          </a:xfrm>
        </p:spPr>
        <p:txBody>
          <a:bodyPr/>
          <a:lstStyle/>
          <a:p>
            <a:r>
              <a:rPr dirty="0"/>
              <a:t>Saved model + tokenizer to local folder</a:t>
            </a:r>
            <a:endParaRPr lang="en-US" dirty="0"/>
          </a:p>
          <a:p>
            <a:endParaRPr dirty="0"/>
          </a:p>
          <a:p>
            <a:r>
              <a:rPr dirty="0"/>
              <a:t>Pipeline: text-classification → label + confidence</a:t>
            </a:r>
            <a:endParaRPr lang="en-US" dirty="0"/>
          </a:p>
          <a:p>
            <a:endParaRPr dirty="0"/>
          </a:p>
          <a:p>
            <a:r>
              <a:rPr dirty="0"/>
              <a:t>Example: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dirty="0"/>
              <a:t>“higher revenue and strong quarterly profits” → Positive (~0.99)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Reproduce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Create </a:t>
            </a:r>
            <a:r>
              <a:rPr dirty="0" err="1"/>
              <a:t>conda</a:t>
            </a:r>
            <a:r>
              <a:rPr dirty="0"/>
              <a:t> env (python 3.11) and install transformers/datasets/torch</a:t>
            </a:r>
            <a:endParaRPr lang="en-US" dirty="0"/>
          </a:p>
          <a:p>
            <a:endParaRPr dirty="0"/>
          </a:p>
          <a:p>
            <a:r>
              <a:rPr dirty="0"/>
              <a:t>Run notebook end-to-end; select kernel Python (finetune-</a:t>
            </a:r>
            <a:r>
              <a:rPr dirty="0" err="1"/>
              <a:t>llm</a:t>
            </a:r>
            <a:r>
              <a:rPr dirty="0"/>
              <a:t>)</a:t>
            </a:r>
            <a:endParaRPr lang="en-US" dirty="0"/>
          </a:p>
          <a:p>
            <a:endParaRPr dirty="0"/>
          </a:p>
          <a:p>
            <a:r>
              <a:rPr dirty="0"/>
              <a:t>Train → evaluate → save → inference demo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16003"/>
            <a:ext cx="7772400" cy="4816711"/>
          </a:xfrm>
        </p:spPr>
        <p:txBody>
          <a:bodyPr>
            <a:normAutofit/>
          </a:bodyPr>
          <a:lstStyle/>
          <a:p>
            <a:pPr algn="ctr"/>
            <a:r>
              <a:rPr lang="en-US" sz="8800" dirty="0"/>
              <a:t>Thank </a:t>
            </a:r>
            <a:br>
              <a:rPr lang="en-US" sz="8800" dirty="0"/>
            </a:br>
            <a:r>
              <a:rPr lang="en-US" sz="8800" dirty="0"/>
              <a:t> you !</a:t>
            </a:r>
            <a:endParaRPr sz="8800" dirty="0"/>
          </a:p>
        </p:txBody>
      </p:sp>
    </p:spTree>
    <p:extLst>
      <p:ext uri="{BB962C8B-B14F-4D97-AF65-F5344CB8AC3E}">
        <p14:creationId xmlns:p14="http://schemas.microsoft.com/office/powerpoint/2010/main" val="4996697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{FB214B7A-6A4A-0B46-9320-C10C29D73124}tf10001070</Template>
  <TotalTime>25</TotalTime>
  <Words>349</Words>
  <Application>Microsoft Macintosh PowerPoint</Application>
  <PresentationFormat>On-screen Show (4:3)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Rockwell</vt:lpstr>
      <vt:lpstr>Rockwell Condensed</vt:lpstr>
      <vt:lpstr>Rockwell Extra Bold</vt:lpstr>
      <vt:lpstr>Wingdings</vt:lpstr>
      <vt:lpstr>Wood Type</vt:lpstr>
      <vt:lpstr>Financial Sentiment Analysis with DistilBERT   Hugging Face Transformers</vt:lpstr>
      <vt:lpstr>Problem &amp; Objective</vt:lpstr>
      <vt:lpstr>Dataset</vt:lpstr>
      <vt:lpstr>Model</vt:lpstr>
      <vt:lpstr>Training Setup</vt:lpstr>
      <vt:lpstr>Hyperparameter Tuning (3 configs)</vt:lpstr>
      <vt:lpstr>Results (Test Set)</vt:lpstr>
      <vt:lpstr>Confusion Matrix (Test)</vt:lpstr>
      <vt:lpstr>Error Analysis &amp; Improvements</vt:lpstr>
      <vt:lpstr>Inference Demo</vt:lpstr>
      <vt:lpstr>How to Reproduce</vt:lpstr>
      <vt:lpstr>Thank   you 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Fine-Tuning a Large Language Model</dc:title>
  <dc:subject/>
  <dc:creator/>
  <cp:keywords/>
  <dc:description>generated using python-pptx</dc:description>
  <cp:lastModifiedBy>Rajesh Kumar Rama Reddy</cp:lastModifiedBy>
  <cp:revision>5</cp:revision>
  <dcterms:created xsi:type="dcterms:W3CDTF">2013-01-27T09:14:16Z</dcterms:created>
  <dcterms:modified xsi:type="dcterms:W3CDTF">2026-02-08T23:41:13Z</dcterms:modified>
  <cp:category/>
</cp:coreProperties>
</file>